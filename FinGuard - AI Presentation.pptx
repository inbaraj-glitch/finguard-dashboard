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1302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078992"/>
            <a:ext cx="6400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B25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FinGuard AI</a:t>
            </a:r>
            <a:endParaRPr lang="en-US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86384" y="187452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200" b="1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Next-Generation Personal Finance Intelligence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04672" y="2542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+ Data Analytics + </a:t>
            </a:r>
            <a:r>
              <a:rPr lang="en-US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8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ecurity + FinTech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818120" y="987552"/>
            <a:ext cx="3337560" cy="3337560"/>
          </a:xfrm>
          <a:prstGeom prst="roundRect">
            <a:avLst>
              <a:gd name="adj" fmla="val 4932"/>
            </a:avLst>
          </a:prstGeom>
          <a:solidFill>
            <a:srgbClr val="FFFFFF"/>
          </a:solidFill>
          <a:ln w="279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394192" y="19202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</a:rPr>
              <a:t>0–100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229600" y="25603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Health Score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44880" y="5383555"/>
            <a:ext cx="10561320" cy="512064"/>
          </a:xfrm>
          <a:prstGeom prst="roundRect">
            <a:avLst>
              <a:gd name="adj" fmla="val 25000"/>
            </a:avLst>
          </a:prstGeom>
          <a:solidFill>
            <a:srgbClr val="0B253B"/>
          </a:solidFill>
          <a:ln w="12700">
            <a:solidFill>
              <a:srgbClr val="0B25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120" y="5568696"/>
            <a:ext cx="10287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Upload  →  Analyze  →  Predict  →  Recommend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4360" y="6419088"/>
            <a:ext cx="1101852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651052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FinGuard AI  •  Secure Personal Finance Intelligence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1300" b="1" dirty="0">
                <a:solidFill>
                  <a:srgbClr val="0D9488"/>
                </a:solidFill>
              </a:rPr>
              <a:t> </a:t>
            </a:r>
            <a:r>
              <a:rPr lang="en-US" sz="1600" b="1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This Project Is Needed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12344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 finance has become difficult to manage because income, spending, subscriptions, investments, and bills are spread across many sources.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5166360" cy="338328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2794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5166360" cy="38404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87552" y="2011680"/>
            <a:ext cx="4837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lang="en-US" sz="1500" b="1" dirty="0">
                <a:solidFill>
                  <a:srgbClr val="FFFFFF"/>
                </a:solidFill>
              </a:rPr>
              <a:t> Pain Points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2697480"/>
            <a:ext cx="452628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Low visibility into spending patterns
• Difficult to forecast future cash flow
• Manual statement review is slow and error-prone
• Finance apps often stop at transaction tracking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4983480" cy="338328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279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55080" y="1920240"/>
            <a:ext cx="498348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19672" y="2011680"/>
            <a:ext cx="4654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Impact</a:t>
            </a: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1" dirty="0">
                <a:solidFill>
                  <a:srgbClr val="FFFFFF"/>
                </a:solidFill>
              </a:rPr>
              <a:t>on Users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5120" y="2697480"/>
            <a:ext cx="429768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Overspending goes unnoticed
• Savings goals are missed
• Recurring bills create pressure
• Sensitive statement data needs privacy protection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2960" y="5669280"/>
            <a:ext cx="10561320" cy="512064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5806440"/>
            <a:ext cx="10287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Need: secure financial data processing + intelligent recommendations + proactive risk alerts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4360" y="6419088"/>
            <a:ext cx="1101852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651052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FinGuard AI  •  Secure Personal Finance Intelligence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FinGuard AI Secure Finance Intelligence Layer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1234440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analyzes encrypted bank statements, detects patterns, predicts future balance, and gives personalized financial actions.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11680" y="3063240"/>
            <a:ext cx="96012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43400" y="3063240"/>
            <a:ext cx="96012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675120" y="3063240"/>
            <a:ext cx="96012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006840" y="3063240"/>
            <a:ext cx="9144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2404872"/>
            <a:ext cx="1783080" cy="1325880"/>
          </a:xfrm>
          <a:prstGeom prst="roundRect">
            <a:avLst>
              <a:gd name="adj" fmla="val 12414"/>
            </a:avLst>
          </a:prstGeom>
          <a:solidFill>
            <a:srgbClr val="EAF4FF"/>
          </a:solidFill>
          <a:ln w="279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95528" y="2569464"/>
            <a:ext cx="156362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926080" y="2404872"/>
            <a:ext cx="1783080" cy="1325880"/>
          </a:xfrm>
          <a:prstGeom prst="roundRect">
            <a:avLst>
              <a:gd name="adj" fmla="val 12414"/>
            </a:avLst>
          </a:prstGeom>
          <a:solidFill>
            <a:srgbClr val="E9FBF7"/>
          </a:solidFill>
          <a:ln w="279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35808" y="2569464"/>
            <a:ext cx="156362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257800" y="2404872"/>
            <a:ext cx="1783080" cy="1325880"/>
          </a:xfrm>
          <a:prstGeom prst="roundRect">
            <a:avLst>
              <a:gd name="adj" fmla="val 12414"/>
            </a:avLst>
          </a:prstGeom>
          <a:solidFill>
            <a:srgbClr val="F0FDF4"/>
          </a:solidFill>
          <a:ln w="2794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67528" y="2569464"/>
            <a:ext cx="156362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Spending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589520" y="2404872"/>
            <a:ext cx="1783080" cy="1325880"/>
          </a:xfrm>
          <a:prstGeom prst="roundRect">
            <a:avLst>
              <a:gd name="adj" fmla="val 12414"/>
            </a:avLst>
          </a:prstGeom>
          <a:solidFill>
            <a:srgbClr val="FFF7E6"/>
          </a:solidFill>
          <a:ln w="279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99248" y="2569464"/>
            <a:ext cx="156362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829800" y="2404872"/>
            <a:ext cx="1783080" cy="1325880"/>
          </a:xfrm>
          <a:prstGeom prst="roundRect">
            <a:avLst>
              <a:gd name="adj" fmla="val 12414"/>
            </a:avLst>
          </a:prstGeom>
          <a:solidFill>
            <a:srgbClr val="FFF0F2"/>
          </a:solidFill>
          <a:ln w="2794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939528" y="2569464"/>
            <a:ext cx="156362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14400" y="4572000"/>
            <a:ext cx="1037844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27940">
            <a:solidFill>
              <a:srgbClr val="0B25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14400" y="4572000"/>
            <a:ext cx="10378440" cy="384048"/>
          </a:xfrm>
          <a:prstGeom prst="rect">
            <a:avLst/>
          </a:prstGeom>
          <a:solidFill>
            <a:srgbClr val="0B253B"/>
          </a:solidFill>
          <a:ln w="12700">
            <a:solidFill>
              <a:srgbClr val="0B25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78992" y="4663440"/>
            <a:ext cx="10049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Output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97280" y="5074920"/>
            <a:ext cx="10012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insights  •  Smart budgets  •  Savings plan  •  Health score  •  Risk-based alerts  •  Investment learning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94360" y="6419088"/>
            <a:ext cx="1101852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651052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FinGuard AI  •  Secure Personal Finance Intelligence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FinGuard AI Delivers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12344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converts raw financial records into clean insights and intelligent recommendations.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257800" cy="1143000"/>
          </a:xfrm>
          <a:prstGeom prst="roundRect">
            <a:avLst>
              <a:gd name="adj" fmla="val 14400"/>
            </a:avLst>
          </a:prstGeom>
          <a:solidFill>
            <a:srgbClr val="EAF4FF"/>
          </a:solidFill>
          <a:ln w="279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6112" y="2029968"/>
            <a:ext cx="512064" cy="51206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6112" y="212140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202996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Data Input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554480" y="2395728"/>
            <a:ext cx="4251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Accept PDF, scanned PDF, Excel, CSV, and manual entries with validation.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257800" cy="1143000"/>
          </a:xfrm>
          <a:prstGeom prst="roundRect">
            <a:avLst>
              <a:gd name="adj" fmla="val 14400"/>
            </a:avLst>
          </a:prstGeom>
          <a:solidFill>
            <a:srgbClr val="E9FBF7"/>
          </a:solidFill>
          <a:ln w="279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28232" y="2029968"/>
            <a:ext cx="512064" cy="51206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28232" y="212140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86600" y="202996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 Intelligence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086600" y="2395728"/>
            <a:ext cx="4251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Extract, clean, categorize, and store income and expense records.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31520" y="3337560"/>
            <a:ext cx="5257800" cy="1143000"/>
          </a:xfrm>
          <a:prstGeom prst="roundRect">
            <a:avLst>
              <a:gd name="adj" fmla="val 14400"/>
            </a:avLst>
          </a:prstGeom>
          <a:solidFill>
            <a:srgbClr val="F0FDF4"/>
          </a:solidFill>
          <a:ln w="2794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96112" y="3538728"/>
            <a:ext cx="512064" cy="51206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6112" y="363016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353872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Analytics Dashboard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554480" y="3904488"/>
            <a:ext cx="4251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trends, budgets, savings, recurring bills, and cash flow.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63640" y="3337560"/>
            <a:ext cx="5257800" cy="1143000"/>
          </a:xfrm>
          <a:prstGeom prst="roundRect">
            <a:avLst>
              <a:gd name="adj" fmla="val 14400"/>
            </a:avLst>
          </a:prstGeom>
          <a:solidFill>
            <a:srgbClr val="FFF7E6"/>
          </a:solidFill>
          <a:ln w="279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28232" y="3538728"/>
            <a:ext cx="512064" cy="51206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28232" y="363016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86600" y="353872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Recommendations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086600" y="3904488"/>
            <a:ext cx="4251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expenses, detect unusual spending, and suggest savings actions.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474720" y="4846320"/>
            <a:ext cx="5257800" cy="1143000"/>
          </a:xfrm>
          <a:prstGeom prst="roundRect">
            <a:avLst>
              <a:gd name="adj" fmla="val 14400"/>
            </a:avLst>
          </a:prstGeom>
          <a:solidFill>
            <a:srgbClr val="FFF0F2"/>
          </a:solidFill>
          <a:ln w="2794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39312" y="5047488"/>
            <a:ext cx="512064" cy="51206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39312" y="513892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297680" y="504748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Guidance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297680" y="5413248"/>
            <a:ext cx="4251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health score and provide risk-based alerts plus investment learning.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94360" y="6419088"/>
            <a:ext cx="1101852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4360" y="651052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FinGuard AI  •  Secure Personal Finance Intelligence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FastAPI-Based Implementation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12344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 technologies support secure file processing, analytics, machine learning, notifications, and deployment.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166360" cy="786384"/>
          </a:xfrm>
          <a:prstGeom prst="roundRect">
            <a:avLst>
              <a:gd name="adj" fmla="val 17442"/>
            </a:avLst>
          </a:prstGeom>
          <a:solidFill>
            <a:srgbClr val="EAF4FF"/>
          </a:solidFill>
          <a:ln w="279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92938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560320" y="19202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HTML5, CSS3, JavaScript, Bootstrap 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166360" cy="786384"/>
          </a:xfrm>
          <a:prstGeom prst="roundRect">
            <a:avLst>
              <a:gd name="adj" fmla="val 17442"/>
            </a:avLst>
          </a:prstGeom>
          <a:solidFill>
            <a:srgbClr val="E9FBF7"/>
          </a:solidFill>
          <a:ln w="279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46520" y="192938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138160" y="19202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with FastAPI, Uvicorn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85800" y="2852928"/>
            <a:ext cx="5166360" cy="786384"/>
          </a:xfrm>
          <a:prstGeom prst="roundRect">
            <a:avLst>
              <a:gd name="adj" fmla="val 17442"/>
            </a:avLst>
          </a:prstGeom>
          <a:solidFill>
            <a:srgbClr val="F0FDF4"/>
          </a:solidFill>
          <a:ln w="2794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9992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560320" y="29900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MySQL, SQLAlchemy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63640" y="2852928"/>
            <a:ext cx="5166360" cy="786384"/>
          </a:xfrm>
          <a:prstGeom prst="roundRect">
            <a:avLst>
              <a:gd name="adj" fmla="val 17442"/>
            </a:avLst>
          </a:prstGeom>
          <a:solidFill>
            <a:srgbClr val="FFF7E6"/>
          </a:solidFill>
          <a:ln w="279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46520" y="29992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D977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138160" y="29900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Pandas, NumPy, Plotly.js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5800" y="3922776"/>
            <a:ext cx="5166360" cy="786384"/>
          </a:xfrm>
          <a:prstGeom prst="roundRect">
            <a:avLst>
              <a:gd name="adj" fmla="val 17442"/>
            </a:avLst>
          </a:prstGeom>
          <a:solidFill>
            <a:srgbClr val="FFF0F2"/>
          </a:solidFill>
          <a:ln w="2794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40690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E11D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743200" y="403250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63640" y="3922776"/>
            <a:ext cx="5166360" cy="786384"/>
          </a:xfrm>
          <a:prstGeom prst="roundRect">
            <a:avLst>
              <a:gd name="adj" fmla="val 17442"/>
            </a:avLst>
          </a:prstGeom>
          <a:solidFill>
            <a:srgbClr val="EEF4FA"/>
          </a:solidFill>
          <a:ln w="27940">
            <a:solidFill>
              <a:srgbClr val="0B25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46520" y="40690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25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138160" y="4059936"/>
            <a:ext cx="3063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AES-256-GCM, Argon2, JWT HttpOnly cookies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85800" y="4992624"/>
            <a:ext cx="5166360" cy="786384"/>
          </a:xfrm>
          <a:prstGeom prst="roundRect">
            <a:avLst>
              <a:gd name="adj" fmla="val 17442"/>
            </a:avLst>
          </a:prstGeom>
          <a:solidFill>
            <a:srgbClr val="EAF4FF"/>
          </a:solidFill>
          <a:ln w="279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8680" y="513892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Processing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560320" y="5129784"/>
            <a:ext cx="3063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PyMuPDF, OpenPyXL, Tesseract OCR + OpenCV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63640" y="4992624"/>
            <a:ext cx="5166360" cy="786384"/>
          </a:xfrm>
          <a:prstGeom prst="roundRect">
            <a:avLst>
              <a:gd name="adj" fmla="val 17442"/>
            </a:avLst>
          </a:prstGeom>
          <a:solidFill>
            <a:srgbClr val="E9FBF7"/>
          </a:solidFill>
          <a:ln w="279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46520" y="513892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Automation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138160" y="512978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Celery + Redis, Firebase + Email, Docker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94360" y="6419088"/>
            <a:ext cx="1101852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4360" y="651052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FinGuard AI  •  Secure Personal Finance Intelligence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</a:rPr>
              <a:t>Five Main Modules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2344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</a:rPr>
              <a:t>The architecture separates privacy, data processing, analytics, AI, and user guidance into focused modules.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1664208"/>
            <a:ext cx="10698480" cy="658368"/>
          </a:xfrm>
          <a:prstGeom prst="roundRect">
            <a:avLst>
              <a:gd name="adj" fmla="val 22222"/>
            </a:avLst>
          </a:prstGeom>
          <a:solidFill>
            <a:srgbClr val="EAF4FF"/>
          </a:solidFill>
          <a:ln w="279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1773936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86537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0200" y="18288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User, Security &amp; Privacy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303520" y="182880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</a:rPr>
              <a:t>Authentication, encryption, masking, consent, audit log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2532888"/>
            <a:ext cx="10698480" cy="658368"/>
          </a:xfrm>
          <a:prstGeom prst="roundRect">
            <a:avLst>
              <a:gd name="adj" fmla="val 22222"/>
            </a:avLst>
          </a:prstGeom>
          <a:solidFill>
            <a:srgbClr val="E9FBF7"/>
          </a:solidFill>
          <a:ln w="279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60120" y="2642616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27340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00200" y="26974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Bank Statement &amp; Transactions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303520" y="269748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</a:rPr>
              <a:t>Upload, extract, clean, validate, categorize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7240" y="3401568"/>
            <a:ext cx="10698480" cy="658368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 w="2794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0120" y="3511296"/>
            <a:ext cx="438912" cy="43891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0120" y="36027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0200" y="356616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Analytics &amp; Visualization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303520" y="356616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</a:rPr>
              <a:t>Spending trends, budgets, charts, cash flow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77240" y="4270248"/>
            <a:ext cx="10698480" cy="658368"/>
          </a:xfrm>
          <a:prstGeom prst="roundRect">
            <a:avLst>
              <a:gd name="adj" fmla="val 22222"/>
            </a:avLst>
          </a:prstGeom>
          <a:solidFill>
            <a:srgbClr val="FFF7E6"/>
          </a:solidFill>
          <a:ln w="279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60120" y="4379976"/>
            <a:ext cx="438912" cy="4389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60120" y="44714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00200" y="44348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AI Prediction &amp; Intelligence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303520" y="443484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</a:rPr>
              <a:t>Forecasting, anomaly detection, behaviour analysis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77240" y="5138928"/>
            <a:ext cx="10698480" cy="658368"/>
          </a:xfrm>
          <a:prstGeom prst="roundRect">
            <a:avLst>
              <a:gd name="adj" fmla="val 22222"/>
            </a:avLst>
          </a:prstGeom>
          <a:solidFill>
            <a:srgbClr val="FFF0F2"/>
          </a:solidFill>
          <a:ln w="2794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60120" y="5248656"/>
            <a:ext cx="438912" cy="43891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60120" y="534009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600200" y="53035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Health, Alerts &amp; Learning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303520" y="530352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</a:rPr>
              <a:t>Score, notifications, bills, investment education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94360" y="6419088"/>
            <a:ext cx="1101852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4360" y="651052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FinGuard AI  •  Secure Personal Finance Intelligence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CORE PROCESSING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</a:rPr>
              <a:t>Modules 1 &amp; 2: Security + Statement Management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2344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</a:rPr>
              <a:t>The first layers protect personal data and convert raw files into structured transactions.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5212080" cy="3474720"/>
          </a:xfrm>
          <a:prstGeom prst="roundRect">
            <a:avLst>
              <a:gd name="adj" fmla="val 4737"/>
            </a:avLst>
          </a:prstGeom>
          <a:solidFill>
            <a:srgbClr val="EAF4FF"/>
          </a:solidFill>
          <a:ln w="279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521208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1832" y="1965960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Module 1: Security &amp; Privacy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670048"/>
            <a:ext cx="457200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0F172A"/>
                </a:solidFill>
              </a:rPr>
              <a:t>• User registration and login
• JWT authentication
• Argon2 password hashing
• AES-256-GCM statement encryption
• Account number masking and audit logs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212080" cy="3474720"/>
          </a:xfrm>
          <a:prstGeom prst="roundRect">
            <a:avLst>
              <a:gd name="adj" fmla="val 4737"/>
            </a:avLst>
          </a:prstGeom>
          <a:solidFill>
            <a:srgbClr val="E9FBF7"/>
          </a:solidFill>
          <a:ln w="279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52120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28232" y="1965960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Module 2: Transactions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2670048"/>
            <a:ext cx="457200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0F172A"/>
                </a:solidFill>
              </a:rPr>
              <a:t>• PDF, scanned PDF, Excel, CSV, manual entry
• Extract date, description, debit, credit, balance
• Remove duplicates and validate records
• Auto-categorize expenses
• Manual correction option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22960" y="5715000"/>
            <a:ext cx="10561320" cy="512064"/>
          </a:xfrm>
          <a:prstGeom prst="roundRect">
            <a:avLst>
              <a:gd name="adj" fmla="val 25000"/>
            </a:avLst>
          </a:prstGeom>
          <a:solidFill>
            <a:srgbClr val="0B253B"/>
          </a:solidFill>
          <a:ln w="12700">
            <a:solidFill>
              <a:srgbClr val="0B25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5852160"/>
            <a:ext cx="10287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</a:rPr>
              <a:t>Main Frame: data must be encrypted first, processed safely, then stored in clean structured form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594360" y="6419088"/>
            <a:ext cx="1101852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651052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FinGuard AI  •  Secure Personal Finance Intelligence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ANALYTICS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</a:rPr>
              <a:t>Module 3: Financial Analytics &amp; Visualization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2344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</a:rPr>
              <a:t>Pandas and NumPy transform transactions into decision-ready metrics.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5166360" cy="3337560"/>
          </a:xfrm>
          <a:prstGeom prst="roundRect">
            <a:avLst>
              <a:gd name="adj" fmla="val 4932"/>
            </a:avLst>
          </a:prstGeom>
          <a:solidFill>
            <a:srgbClr val="F0FDF4"/>
          </a:solidFill>
          <a:ln w="2794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51663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1832" y="1920240"/>
            <a:ext cx="4837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Analytics Metrics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606040"/>
            <a:ext cx="452628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0F172A"/>
                </a:solidFill>
              </a:rPr>
              <a:t>• Total monthly income and expenses
• Savings rate and cash flow
• Category-wise spending
• Budget utilization
• Recurring payments and highest-spending category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66360" cy="3337560"/>
          </a:xfrm>
          <a:prstGeom prst="roundRect">
            <a:avLst>
              <a:gd name="adj" fmla="val 4932"/>
            </a:avLst>
          </a:prstGeom>
          <a:solidFill>
            <a:srgbClr val="EAF4FF"/>
          </a:solidFill>
          <a:ln w="279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166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28232" y="1920240"/>
            <a:ext cx="4837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Dashboard Charts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2606040"/>
            <a:ext cx="452628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0F172A"/>
                </a:solidFill>
              </a:rPr>
              <a:t>• Pie chart: expense categories
• Bar chart: income vs expense
• Line chart: monthly spending
• Gauge: health score
• Heatmap: daily spending intensity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22960" y="5623560"/>
            <a:ext cx="10561320" cy="512064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5760720"/>
            <a:ext cx="10287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</a:rPr>
              <a:t>Dashboard Goal: give users instant visibility into where money goes and what needs attention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594360" y="6419088"/>
            <a:ext cx="1101852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651052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FinGuard AI  •  Secure Personal Finance Intelligence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AI INTELLIGENCE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</a:rPr>
              <a:t>Module 4: Prediction &amp; Financial Intelligence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2344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</a:rPr>
              <a:t>Scikit-learn models help detect abnormal behaviour and predict future financial pressure.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5257800" cy="960120"/>
          </a:xfrm>
          <a:prstGeom prst="roundRect">
            <a:avLst>
              <a:gd name="adj" fmla="val 17143"/>
            </a:avLst>
          </a:prstGeom>
          <a:solidFill>
            <a:srgbClr val="EAF4FF"/>
          </a:solidFill>
          <a:ln w="279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6112" y="2075688"/>
            <a:ext cx="512064" cy="51206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6112" y="216712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72768" y="202082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Smart Budget Recommendation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336292"/>
            <a:ext cx="42519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</a:rPr>
              <a:t>Creates category-wise budgets using income and past expenses.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5257800" cy="960120"/>
          </a:xfrm>
          <a:prstGeom prst="roundRect">
            <a:avLst>
              <a:gd name="adj" fmla="val 17143"/>
            </a:avLst>
          </a:prstGeom>
          <a:solidFill>
            <a:srgbClr val="E9FBF7"/>
          </a:solidFill>
          <a:ln w="279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28232" y="2075688"/>
            <a:ext cx="512064" cy="51206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28232" y="216712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86600" y="200014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Future Expense Prediction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86600" y="2294492"/>
            <a:ext cx="4251960" cy="421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</a:rPr>
              <a:t>Predicts upcoming expenses from recurring bills, salary dates, EMI, and seasonality.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3246119"/>
            <a:ext cx="5257800" cy="987551"/>
          </a:xfrm>
          <a:prstGeom prst="roundRect">
            <a:avLst>
              <a:gd name="adj" fmla="val 17143"/>
            </a:avLst>
          </a:prstGeom>
          <a:solidFill>
            <a:srgbClr val="FFF7E6"/>
          </a:solidFill>
          <a:ln w="279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96112" y="3447288"/>
            <a:ext cx="512064" cy="51206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6112" y="353872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3300113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Unusual Spending Detection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8760" y="3628427"/>
            <a:ext cx="4251960" cy="631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</a:rPr>
              <a:t>Detects sudden high-value transactions, duplicates, abnormal frequency, and category spikes.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63640" y="3246120"/>
            <a:ext cx="5257800" cy="960120"/>
          </a:xfrm>
          <a:prstGeom prst="roundRect">
            <a:avLst>
              <a:gd name="adj" fmla="val 17143"/>
            </a:avLst>
          </a:prstGeom>
          <a:solidFill>
            <a:srgbClr val="FFF0F2"/>
          </a:solidFill>
          <a:ln w="2794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28232" y="3447288"/>
            <a:ext cx="512064" cy="51206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28232" y="353872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04888" y="3374136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Financial Behaviour Analysis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86600" y="3648455"/>
            <a:ext cx="4251960" cy="512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</a:rPr>
              <a:t>Classifies users into saver, balanced spender, high spender, or at-risk profile.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325880" y="4892040"/>
            <a:ext cx="9509760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 w="27940">
            <a:solidFill>
              <a:srgbClr val="0B25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325880" y="4892040"/>
            <a:ext cx="9509760" cy="384048"/>
          </a:xfrm>
          <a:prstGeom prst="rect">
            <a:avLst/>
          </a:prstGeom>
          <a:solidFill>
            <a:srgbClr val="0B253B"/>
          </a:solidFill>
          <a:ln w="12700">
            <a:solidFill>
              <a:srgbClr val="0B25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490472" y="4983480"/>
            <a:ext cx="9180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Suitable Models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08760" y="53766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Isolation Forest  •  Random Forest / XGBoost  •  Prophet  •  K-Means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594360" y="6419088"/>
            <a:ext cx="1101852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4360" y="651052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FinGuard AI  •  Secure Personal Finance Intelligence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SCORE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5: Financial Health Score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12344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single 0–100 score summarizes the user’s overall financial condition.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68680" y="1874520"/>
            <a:ext cx="3246120" cy="3383280"/>
          </a:xfrm>
          <a:prstGeom prst="roundRect">
            <a:avLst>
              <a:gd name="adj" fmla="val 5070"/>
            </a:avLst>
          </a:prstGeom>
          <a:solidFill>
            <a:srgbClr val="E9FBF7"/>
          </a:solidFill>
          <a:ln w="279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08760" y="2606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87</a:t>
            </a:r>
            <a:endParaRPr lang="en-US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993392" y="333756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/100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07008" y="4023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Score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0" y="1874520"/>
            <a:ext cx="6812280" cy="338328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279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0" y="1874520"/>
            <a:ext cx="681228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36592" y="1965960"/>
            <a:ext cx="6483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 Parameters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92040" y="2651760"/>
            <a:ext cx="621792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Savings rate
• Spending control
• Budget adherence
• Debt / EMI ratio
• Emergency fund availability
• Investment consistency and bill regularity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2960" y="5577840"/>
            <a:ext cx="10561320" cy="512064"/>
          </a:xfrm>
          <a:prstGeom prst="roundRect">
            <a:avLst>
              <a:gd name="adj" fmla="val 25000"/>
            </a:avLst>
          </a:prstGeom>
          <a:solidFill>
            <a:srgbClr val="0B253B"/>
          </a:solidFill>
          <a:ln w="12700">
            <a:solidFill>
              <a:srgbClr val="0B25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5715000"/>
            <a:ext cx="10287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 Levels: 80–100 Excellent  •  60–79 Good  •  40–59 Needs Improvement  •  0–39 High Risk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4360" y="6419088"/>
            <a:ext cx="1101852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651052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FinGuard AI  •  Secure Personal Finance Intelligence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Risk-Based Notification System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12344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 are prioritized based on severity and privacy sensitivity.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10561320" cy="841248"/>
          </a:xfrm>
          <a:prstGeom prst="roundRect">
            <a:avLst>
              <a:gd name="adj" fmla="val 16304"/>
            </a:avLst>
          </a:prstGeom>
          <a:solidFill>
            <a:srgbClr val="FFF0F2"/>
          </a:solidFill>
          <a:ln w="2794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20574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11D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Risk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154680" y="206654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Silent Private Alert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715000" y="2039112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predicted balance, high EMI ratio, unusual high-value transaction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3044952"/>
            <a:ext cx="10561320" cy="841248"/>
          </a:xfrm>
          <a:prstGeom prst="roundRect">
            <a:avLst>
              <a:gd name="adj" fmla="val 16304"/>
            </a:avLst>
          </a:prstGeom>
          <a:solidFill>
            <a:srgbClr val="FFF7E6"/>
          </a:solidFill>
          <a:ln w="279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32278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7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Medium Risk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154680" y="323697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Alert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715000" y="3209544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Budget above 80%, savings goal likely to be missed, expenses increasing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2960" y="4215384"/>
            <a:ext cx="10561320" cy="841248"/>
          </a:xfrm>
          <a:prstGeom prst="roundRect">
            <a:avLst>
              <a:gd name="adj" fmla="val 16304"/>
            </a:avLst>
          </a:prstGeom>
          <a:solidFill>
            <a:srgbClr val="E9FBF7"/>
          </a:solidFill>
          <a:ln w="279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51560" y="439826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Risk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154680" y="44074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Notification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715000" y="4379976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Bill reminder, savings progress, monthly finance summary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2960" y="5532120"/>
            <a:ext cx="10561320" cy="512064"/>
          </a:xfrm>
          <a:prstGeom prst="roundRect">
            <a:avLst>
              <a:gd name="adj" fmla="val 25000"/>
            </a:avLst>
          </a:prstGeom>
          <a:solidFill>
            <a:srgbClr val="0B253B"/>
          </a:solidFill>
          <a:ln w="12700">
            <a:solidFill>
              <a:srgbClr val="0B25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0120" y="5669280"/>
            <a:ext cx="10287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Privacy Rule: high-risk alerts should not expose sensitive values on the lock screen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94360" y="6419088"/>
            <a:ext cx="1101852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651052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FinGuard AI  •  Secure Personal Finance Intelligence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System Workflow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12344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secure input to dashboard insights and monthly financial reports.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11680" y="2267712"/>
            <a:ext cx="685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0" y="2267712"/>
            <a:ext cx="685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217920" y="2267712"/>
            <a:ext cx="685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321040" y="2267712"/>
            <a:ext cx="685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692640" y="2761488"/>
            <a:ext cx="0" cy="1170432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006840" y="4370832"/>
            <a:ext cx="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903720" y="4370832"/>
            <a:ext cx="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00600" y="4370832"/>
            <a:ext cx="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697480" y="4370832"/>
            <a:ext cx="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" y="1828800"/>
            <a:ext cx="1417320" cy="877824"/>
          </a:xfrm>
          <a:prstGeom prst="roundRect">
            <a:avLst>
              <a:gd name="adj" fmla="val 18750"/>
            </a:avLst>
          </a:prstGeom>
          <a:solidFill>
            <a:srgbClr val="EAF4FF"/>
          </a:solidFill>
          <a:ln w="279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4088" y="1993392"/>
            <a:ext cx="11978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Login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697480" y="1828800"/>
            <a:ext cx="1417320" cy="877824"/>
          </a:xfrm>
          <a:prstGeom prst="roundRect">
            <a:avLst>
              <a:gd name="adj" fmla="val 18750"/>
            </a:avLst>
          </a:prstGeom>
          <a:solidFill>
            <a:srgbClr val="E9FBF7"/>
          </a:solidFill>
          <a:ln w="279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807208" y="1993392"/>
            <a:ext cx="11978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Upload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00600" y="1828800"/>
            <a:ext cx="1417320" cy="877824"/>
          </a:xfrm>
          <a:prstGeom prst="roundRect">
            <a:avLst>
              <a:gd name="adj" fmla="val 18750"/>
            </a:avLst>
          </a:prstGeom>
          <a:solidFill>
            <a:srgbClr val="F0FDF4"/>
          </a:solidFill>
          <a:ln w="2794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10328" y="1993392"/>
            <a:ext cx="11978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Encrypt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903720" y="1828800"/>
            <a:ext cx="1417320" cy="877824"/>
          </a:xfrm>
          <a:prstGeom prst="roundRect">
            <a:avLst>
              <a:gd name="adj" fmla="val 18750"/>
            </a:avLst>
          </a:prstGeom>
          <a:solidFill>
            <a:srgbClr val="FFF7E6"/>
          </a:solidFill>
          <a:ln w="279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13448" y="1993392"/>
            <a:ext cx="11978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Extract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006840" y="1828800"/>
            <a:ext cx="1417320" cy="877824"/>
          </a:xfrm>
          <a:prstGeom prst="roundRect">
            <a:avLst>
              <a:gd name="adj" fmla="val 18750"/>
            </a:avLst>
          </a:prstGeom>
          <a:solidFill>
            <a:srgbClr val="FFF0F2"/>
          </a:solidFill>
          <a:ln w="2794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16568" y="1993392"/>
            <a:ext cx="11978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Clean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006840" y="3931920"/>
            <a:ext cx="1417320" cy="877824"/>
          </a:xfrm>
          <a:prstGeom prst="roundRect">
            <a:avLst>
              <a:gd name="adj" fmla="val 18750"/>
            </a:avLst>
          </a:prstGeom>
          <a:solidFill>
            <a:srgbClr val="EAF4FF"/>
          </a:solidFill>
          <a:ln w="279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116568" y="4096512"/>
            <a:ext cx="11978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Store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903720" y="3931920"/>
            <a:ext cx="1417320" cy="877824"/>
          </a:xfrm>
          <a:prstGeom prst="roundRect">
            <a:avLst>
              <a:gd name="adj" fmla="val 18750"/>
            </a:avLst>
          </a:prstGeom>
          <a:solidFill>
            <a:srgbClr val="E9FBF7"/>
          </a:solidFill>
          <a:ln w="279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13448" y="4096512"/>
            <a:ext cx="11978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Analyze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800600" y="3931920"/>
            <a:ext cx="1417320" cy="877824"/>
          </a:xfrm>
          <a:prstGeom prst="roundRect">
            <a:avLst>
              <a:gd name="adj" fmla="val 18750"/>
            </a:avLst>
          </a:prstGeom>
          <a:solidFill>
            <a:srgbClr val="F0FDF4"/>
          </a:solidFill>
          <a:ln w="2794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10328" y="4096512"/>
            <a:ext cx="11978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Predict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697480" y="3931920"/>
            <a:ext cx="1417320" cy="877824"/>
          </a:xfrm>
          <a:prstGeom prst="roundRect">
            <a:avLst>
              <a:gd name="adj" fmla="val 18750"/>
            </a:avLst>
          </a:prstGeom>
          <a:solidFill>
            <a:srgbClr val="FFF7E6"/>
          </a:solidFill>
          <a:ln w="279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807208" y="4096512"/>
            <a:ext cx="11978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Score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94360" y="3931920"/>
            <a:ext cx="1417320" cy="877824"/>
          </a:xfrm>
          <a:prstGeom prst="roundRect">
            <a:avLst>
              <a:gd name="adj" fmla="val 18750"/>
            </a:avLst>
          </a:prstGeom>
          <a:solidFill>
            <a:srgbClr val="FFF0F2"/>
          </a:solidFill>
          <a:ln w="2794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04088" y="4096512"/>
            <a:ext cx="11978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 Report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22960" y="5577840"/>
            <a:ext cx="10561320" cy="512064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60120" y="5715000"/>
            <a:ext cx="10287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PDF → PyMuPDF  |  Excel/CSV → Pandas + OpenPyXL  |  Scanned Statement → OpenCV + Tesseract OCR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94360" y="6419088"/>
            <a:ext cx="1101852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4360" y="651052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FinGuard AI  •  Secure Personal Finance Intelligence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6">
            <a:extLst>
              <a:ext uri="{FF2B5EF4-FFF2-40B4-BE49-F238E27FC236}">
                <a16:creationId xmlns:a16="http://schemas.microsoft.com/office/drawing/2014/main" id="{4945EF67-20DB-BBF2-990A-57D88F626A11}"/>
              </a:ext>
            </a:extLst>
          </p:cNvPr>
          <p:cNvSpPr/>
          <p:nvPr/>
        </p:nvSpPr>
        <p:spPr>
          <a:xfrm flipH="1">
            <a:off x="8328445" y="4370832"/>
            <a:ext cx="6840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6">
            <a:extLst>
              <a:ext uri="{FF2B5EF4-FFF2-40B4-BE49-F238E27FC236}">
                <a16:creationId xmlns:a16="http://schemas.microsoft.com/office/drawing/2014/main" id="{BC8C5BF9-94F0-38DF-D679-ABA231B15548}"/>
              </a:ext>
            </a:extLst>
          </p:cNvPr>
          <p:cNvSpPr/>
          <p:nvPr/>
        </p:nvSpPr>
        <p:spPr>
          <a:xfrm flipH="1">
            <a:off x="6202251" y="4346882"/>
            <a:ext cx="684000" cy="7838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6">
            <a:extLst>
              <a:ext uri="{FF2B5EF4-FFF2-40B4-BE49-F238E27FC236}">
                <a16:creationId xmlns:a16="http://schemas.microsoft.com/office/drawing/2014/main" id="{247794D2-5A37-9E0B-E6F3-B1894253FC46}"/>
              </a:ext>
            </a:extLst>
          </p:cNvPr>
          <p:cNvSpPr/>
          <p:nvPr/>
        </p:nvSpPr>
        <p:spPr>
          <a:xfrm flipH="1">
            <a:off x="4114800" y="4354720"/>
            <a:ext cx="6840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6">
            <a:extLst>
              <a:ext uri="{FF2B5EF4-FFF2-40B4-BE49-F238E27FC236}">
                <a16:creationId xmlns:a16="http://schemas.microsoft.com/office/drawing/2014/main" id="{3164983A-CA7A-5F36-E2C2-8F2719F9F3D2}"/>
              </a:ext>
            </a:extLst>
          </p:cNvPr>
          <p:cNvSpPr/>
          <p:nvPr/>
        </p:nvSpPr>
        <p:spPr>
          <a:xfrm flipH="1">
            <a:off x="2004275" y="4354718"/>
            <a:ext cx="685800" cy="16113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&amp; REPORTS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Investment Learning and Monthly Report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12344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educational investment resources and structured monthly summaries.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5212080" cy="3337560"/>
          </a:xfrm>
          <a:prstGeom prst="roundRect">
            <a:avLst>
              <a:gd name="adj" fmla="val 4932"/>
            </a:avLst>
          </a:prstGeom>
          <a:solidFill>
            <a:srgbClr val="E9FBF7"/>
          </a:solidFill>
          <a:ln w="279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52120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1832" y="1965960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Investment Learning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633472"/>
            <a:ext cx="457200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Government-backed: PPF, NPS, NSC, Post Office schemes
• Market-based: mutual funds, SIP, ETFs, index funds
• Shows risk level, lock-in period, liquidity, eligibility
• Educational disclaimer included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212080" cy="3337560"/>
          </a:xfrm>
          <a:prstGeom prst="roundRect">
            <a:avLst>
              <a:gd name="adj" fmla="val 4932"/>
            </a:avLst>
          </a:prstGeom>
          <a:solidFill>
            <a:srgbClr val="EAF4FF"/>
          </a:solidFill>
          <a:ln w="279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521208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28232" y="1965960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Monthly Report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83680" y="2633472"/>
            <a:ext cx="457200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Total income, expenses, savings
• Savings rate and highest expense category
• Budget performance and health score
• Predicted next-month expenses and risks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2960" y="5559552"/>
            <a:ext cx="10561320" cy="512064"/>
          </a:xfrm>
          <a:prstGeom prst="roundRect">
            <a:avLst>
              <a:gd name="adj" fmla="val 25000"/>
            </a:avLst>
          </a:prstGeom>
          <a:solidFill>
            <a:srgbClr val="0B253B"/>
          </a:solidFill>
          <a:ln w="12700">
            <a:solidFill>
              <a:srgbClr val="0B25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5696712"/>
            <a:ext cx="10287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Investment content is guidance for learning only — not guaranteed financial advice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4360" y="6419088"/>
            <a:ext cx="1101852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651052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FinGuard AI  •  Secure Personal Finance Intelligence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Planned Improvements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12344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can convert FinGuard AI into a complete personal finance ecosystem.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5166360" cy="914400"/>
          </a:xfrm>
          <a:prstGeom prst="roundRect">
            <a:avLst>
              <a:gd name="adj" fmla="val 18000"/>
            </a:avLst>
          </a:prstGeom>
          <a:solidFill>
            <a:srgbClr val="EAF4FF"/>
          </a:solidFill>
          <a:ln w="279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6112" y="1938528"/>
            <a:ext cx="512064" cy="51206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86968" y="2103120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554480" y="184251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Multi-Bank Support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554480" y="2162556"/>
            <a:ext cx="41605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Templates for different Indian bank statement formats.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166360" cy="914400"/>
          </a:xfrm>
          <a:prstGeom prst="roundRect">
            <a:avLst>
              <a:gd name="adj" fmla="val 18000"/>
            </a:avLst>
          </a:prstGeom>
          <a:solidFill>
            <a:srgbClr val="E9FBF7"/>
          </a:solidFill>
          <a:ln w="279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28232" y="1938528"/>
            <a:ext cx="512064" cy="51206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28232" y="208940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086600" y="193852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086600" y="230428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 app with secure push notifications.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31520" y="3044952"/>
            <a:ext cx="5166360" cy="914400"/>
          </a:xfrm>
          <a:prstGeom prst="roundRect">
            <a:avLst>
              <a:gd name="adj" fmla="val 18000"/>
            </a:avLst>
          </a:prstGeom>
          <a:solidFill>
            <a:srgbClr val="F0FDF4"/>
          </a:solidFill>
          <a:ln w="2794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96112" y="3246120"/>
            <a:ext cx="512064" cy="51206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6112" y="3385457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554480" y="32461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 Expense Entry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554480" y="36118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daily expenses using speech input.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63640" y="3044952"/>
            <a:ext cx="5166360" cy="914400"/>
          </a:xfrm>
          <a:prstGeom prst="roundRect">
            <a:avLst>
              <a:gd name="adj" fmla="val 18000"/>
            </a:avLst>
          </a:prstGeom>
          <a:solidFill>
            <a:srgbClr val="FFF7E6"/>
          </a:solidFill>
          <a:ln w="279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91656" y="3246120"/>
            <a:ext cx="512064" cy="51206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28232" y="341702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086600" y="32461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086600" y="35290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why each recommendation is generated.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31520" y="4352544"/>
            <a:ext cx="5166360" cy="914400"/>
          </a:xfrm>
          <a:prstGeom prst="roundRect">
            <a:avLst>
              <a:gd name="adj" fmla="val 18000"/>
            </a:avLst>
          </a:prstGeom>
          <a:solidFill>
            <a:srgbClr val="FFF0F2"/>
          </a:solidFill>
          <a:ln w="2794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96112" y="4553712"/>
            <a:ext cx="512064" cy="51206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46404" y="473049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554480" y="45537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 Budget Mode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554480" y="491947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Shared household goals and budgets.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263640" y="4352544"/>
            <a:ext cx="5166360" cy="914400"/>
          </a:xfrm>
          <a:prstGeom prst="roundRect">
            <a:avLst>
              <a:gd name="adj" fmla="val 18000"/>
            </a:avLst>
          </a:prstGeom>
          <a:solidFill>
            <a:srgbClr val="EEF4FA"/>
          </a:solidFill>
          <a:ln w="27940">
            <a:solidFill>
              <a:srgbClr val="0B25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28232" y="4553712"/>
            <a:ext cx="512064" cy="512064"/>
          </a:xfrm>
          <a:prstGeom prst="ellipse">
            <a:avLst/>
          </a:prstGeom>
          <a:solidFill>
            <a:srgbClr val="0B253B"/>
          </a:solidFill>
          <a:ln w="12700">
            <a:solidFill>
              <a:srgbClr val="0B25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28232" y="472265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086600" y="45537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 SMS Extraction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040880" y="4809743"/>
            <a:ext cx="4160520" cy="4572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 transactions from SMS or email with consent.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94360" y="6419088"/>
            <a:ext cx="1101852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94360" y="651052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FinGuard AI  •  Secure Personal Finance Intelligence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Outcome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12344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FinGuard AI shifts personal finance from transaction tracking to secure decision support.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68680" y="1874520"/>
            <a:ext cx="3246120" cy="3017520"/>
          </a:xfrm>
          <a:prstGeom prst="roundRect">
            <a:avLst>
              <a:gd name="adj" fmla="val 5455"/>
            </a:avLst>
          </a:prstGeom>
          <a:solidFill>
            <a:srgbClr val="EAF4FF"/>
          </a:solidFill>
          <a:ln w="279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874520"/>
            <a:ext cx="324612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33272" y="1965960"/>
            <a:ext cx="2916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Value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3000" y="2697480"/>
            <a:ext cx="265176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Better expense control
• Clear savings targets
• Early risk warnings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80560" y="1874520"/>
            <a:ext cx="3246120" cy="3017520"/>
          </a:xfrm>
          <a:prstGeom prst="roundRect">
            <a:avLst>
              <a:gd name="adj" fmla="val 5455"/>
            </a:avLst>
          </a:prstGeom>
          <a:solidFill>
            <a:srgbClr val="E9FBF7"/>
          </a:solidFill>
          <a:ln w="279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80560" y="1874520"/>
            <a:ext cx="32461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45152" y="1965960"/>
            <a:ext cx="2916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Value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54880" y="2697480"/>
            <a:ext cx="265176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FastAPI backend
• AI prediction module
• Encrypted data handling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092440" y="1874520"/>
            <a:ext cx="3246120" cy="3017520"/>
          </a:xfrm>
          <a:prstGeom prst="roundRect">
            <a:avLst>
              <a:gd name="adj" fmla="val 5455"/>
            </a:avLst>
          </a:prstGeom>
          <a:solidFill>
            <a:srgbClr val="FFF7E6"/>
          </a:solidFill>
          <a:ln w="279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92440" y="1874520"/>
            <a:ext cx="324612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57032" y="1965960"/>
            <a:ext cx="2916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Value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366760" y="2697480"/>
            <a:ext cx="265176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Dashboard reporting
• Risk classification
• Investment education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94360" y="6419088"/>
            <a:ext cx="1101852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651052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FinGuard AI  •  Secure Personal Finance Intelligence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55FCEC-CCA5-CDD3-F78D-E7597880FD78}"/>
              </a:ext>
            </a:extLst>
          </p:cNvPr>
          <p:cNvSpPr txBox="1"/>
          <p:nvPr/>
        </p:nvSpPr>
        <p:spPr>
          <a:xfrm>
            <a:off x="4511040" y="3028890"/>
            <a:ext cx="34660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B25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AE8461-FB46-7DC5-AFE7-A2C773821CF7}"/>
              </a:ext>
            </a:extLst>
          </p:cNvPr>
          <p:cNvSpPr txBox="1"/>
          <p:nvPr/>
        </p:nvSpPr>
        <p:spPr>
          <a:xfrm>
            <a:off x="3971926" y="3490555"/>
            <a:ext cx="367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Your Listening Have a Nice Day</a:t>
            </a:r>
          </a:p>
        </p:txBody>
      </p:sp>
    </p:spTree>
    <p:extLst>
      <p:ext uri="{BB962C8B-B14F-4D97-AF65-F5344CB8AC3E}">
        <p14:creationId xmlns:p14="http://schemas.microsoft.com/office/powerpoint/2010/main" val="349330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1384</Words>
  <Application>Microsoft Office PowerPoint</Application>
  <PresentationFormat>Widescreen</PresentationFormat>
  <Paragraphs>238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Academic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FinGuard AI – Secure Personal Finance Intelligence</dc:title>
  <dc:subject>FinGuard AI Project Presentation</dc:subject>
  <dc:creator>Arish Khan A</dc:creator>
  <cp:lastModifiedBy>AnudipCOA</cp:lastModifiedBy>
  <cp:revision>6</cp:revision>
  <dcterms:created xsi:type="dcterms:W3CDTF">2026-06-29T18:54:45Z</dcterms:created>
  <dcterms:modified xsi:type="dcterms:W3CDTF">2026-07-23T04:48:42Z</dcterms:modified>
</cp:coreProperties>
</file>